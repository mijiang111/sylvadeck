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375" y="427025"/>
            <a:ext cx="11216030" cy="16733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5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7375" y="427025"/>
            <a:ext cx="893369" cy="167335"/>
          </a:xfrm>
          <a:prstGeom prst="roundRect">
            <a:avLst/>
          </a:prstGeom>
          <a:solidFill>
            <a:srgbClr val="DFF0FF"/>
          </a:solidFill>
          <a:ln w="10160">
            <a:solidFill>
              <a:srgbClr val="D6E7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68712" y="427025"/>
            <a:ext cx="1434694" cy="160020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DDE7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375" y="853135"/>
            <a:ext cx="11216030" cy="5562295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DDE7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375" y="853135"/>
            <a:ext cx="6491326" cy="2695651"/>
          </a:xfrm>
          <a:prstGeom prst="roundRect">
            <a:avLst/>
          </a:prstGeom>
          <a:solidFill>
            <a:srgbClr val="0F2134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7375" y="914400"/>
            <a:ext cx="6430975" cy="1818742"/>
          </a:xfrm>
          <a:prstGeom prst="roundRect">
            <a:avLst/>
          </a:prstGeom>
          <a:solidFill>
            <a:srgbClr val="FFFFFF">
              <a:alpha val="76000"/>
            </a:srgbClr>
          </a:solidFill>
          <a:ln w="10160">
            <a:solidFill>
              <a:srgbClr val="D9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7375" y="2930652"/>
            <a:ext cx="6430975" cy="619049"/>
          </a:xfrm>
          <a:prstGeom prst="roundRect">
            <a:avLst/>
          </a:prstGeom>
          <a:solidFill>
            <a:srgbClr val="FFFFFF">
              <a:alpha val="76000"/>
            </a:srgbClr>
          </a:solidFill>
          <a:ln w="10160">
            <a:solidFill>
              <a:srgbClr val="D9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92670" y="853135"/>
            <a:ext cx="4510735" cy="5562295"/>
          </a:xfrm>
          <a:prstGeom prst="roundRect">
            <a:avLst/>
          </a:prstGeom>
          <a:solidFill>
            <a:srgbClr val="FFFFFF">
              <a:alpha val="76000"/>
            </a:srgbClr>
          </a:solidFill>
          <a:ln w="10160">
            <a:solidFill>
              <a:srgbClr val="D9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" y="427025"/>
            <a:ext cx="893369" cy="2286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D728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Claw Design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10268712" y="427025"/>
            <a:ext cx="1434694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" dirty="0">
                <a:solidFill>
                  <a:srgbClr val="7F91A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本地优先 AI 演示文稿工作台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487375" y="914400"/>
            <a:ext cx="6430975" cy="192024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60" b="1" dirty="0">
                <a:solidFill>
                  <a:srgbClr val="0E1F31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把粗糙想法 快速变成可展示、 可编辑、可导出的 deck</a:t>
            </a:r>
            <a:endParaRPr lang="en-US" sz="5460" dirty="0"/>
          </a:p>
        </p:txBody>
      </p:sp>
      <p:sp>
        <p:nvSpPr>
          <p:cNvPr id="14" name="Text 12"/>
          <p:cNvSpPr/>
          <p:nvPr/>
        </p:nvSpPr>
        <p:spPr>
          <a:xfrm>
            <a:off x="487375" y="2930652"/>
            <a:ext cx="6430975" cy="67939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60" dirty="0">
                <a:solidFill>
                  <a:srgbClr val="41576D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Claw Design 是这个仓库里的 local-first AI presentation workbench， 面向需要把 brief、研究、产品思路整理成正式演示材料的人。</a:t>
            </a:r>
            <a:endParaRPr lang="en-US" sz="1960" dirty="0"/>
          </a:p>
        </p:txBody>
      </p:sp>
      <p:sp>
        <p:nvSpPr>
          <p:cNvPr id="15" name="Text 13"/>
          <p:cNvSpPr/>
          <p:nvPr/>
        </p:nvSpPr>
        <p:spPr>
          <a:xfrm>
            <a:off x="7428586" y="1089965"/>
            <a:ext cx="4038905" cy="20756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6E8194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PRODUCT FRAME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649870" y="1584655"/>
            <a:ext cx="3596335" cy="27432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0617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核心定义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49870" y="1904695"/>
            <a:ext cx="3596335" cy="1547165"/>
          </a:xfrm>
          <a:prstGeom prst="rect">
            <a:avLst/>
          </a:prstGeom>
          <a:solidFill>
            <a:srgbClr val="D6E2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40" b="1" dirty="0">
                <a:solidFill>
                  <a:srgbClr val="10263D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用 AI 驱动 演示文稿生产流程， 但保留可审阅、 可修订、可导出</a:t>
            </a:r>
            <a:endParaRPr lang="en-US" sz="2940" dirty="0"/>
          </a:p>
        </p:txBody>
      </p:sp>
      <p:sp>
        <p:nvSpPr>
          <p:cNvPr id="18" name="Text 16"/>
          <p:cNvSpPr/>
          <p:nvPr/>
        </p:nvSpPr>
        <p:spPr>
          <a:xfrm>
            <a:off x="7573975" y="3908146"/>
            <a:ext cx="1676095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7F92A4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输入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573975" y="4121201"/>
            <a:ext cx="1676095" cy="53675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7314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brief、资料、研究、粗稿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9646006" y="3908146"/>
            <a:ext cx="1676095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7F92A4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输出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9646006" y="4121201"/>
            <a:ext cx="1676095" cy="53675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7314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可呈现的 deck 与可编辑导出物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7596835" y="5000854"/>
            <a:ext cx="3703320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95B4D2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为什么值得看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596835" y="5213909"/>
            <a:ext cx="3703320" cy="61722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dirty="0">
                <a:solidFill>
                  <a:srgbClr val="EEF6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它不是单点生成器，而是把“构思到成稿”的演示工作整合进一个本地优先的工作台。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62940" y="3952951"/>
            <a:ext cx="1721815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B8FA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面向人群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940" y="4204411"/>
            <a:ext cx="1721815" cy="123444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B42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设计师、产品经理、创始人、研究者与独立构建者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872130" y="3952951"/>
            <a:ext cx="1721815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B8FA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产品角色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72130" y="4204411"/>
            <a:ext cx="1721815" cy="93908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B42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AI 辅助的演示内容与版面生产工作台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082235" y="3952951"/>
            <a:ext cx="1721815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B8FA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结果导向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82235" y="4204411"/>
            <a:ext cx="1721815" cy="93908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32B42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更快把不成形的内容组织成能拿去讲的 deck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7375" y="365760"/>
            <a:ext cx="11216030" cy="1698041"/>
          </a:xfrm>
          <a:prstGeom prst="roundRect">
            <a:avLst/>
          </a:prstGeom>
          <a:solidFill>
            <a:srgbClr val="FFFFFF">
              <a:alpha val="72000"/>
            </a:srgbClr>
          </a:solidFill>
          <a:ln w="10160">
            <a:solidFill>
              <a:srgbClr val="5F789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7375" y="365760"/>
            <a:ext cx="5790895" cy="1698041"/>
          </a:xfrm>
          <a:prstGeom prst="roundRect">
            <a:avLst/>
          </a:prstGeom>
          <a:solidFill>
            <a:srgbClr val="FFFFFF">
              <a:alpha val="82000"/>
            </a:srgbClr>
          </a:solidFill>
          <a:ln w="10160">
            <a:solidFill>
              <a:srgbClr val="788CA5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375" y="365760"/>
            <a:ext cx="5790895" cy="129845"/>
          </a:xfrm>
          <a:prstGeom prst="roundRect">
            <a:avLst/>
          </a:prstGeom>
          <a:solidFill>
            <a:srgbClr val="F3F7FB"/>
          </a:solidFill>
          <a:ln w="10160">
            <a:solidFill>
              <a:srgbClr val="DB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71255" y="441655"/>
            <a:ext cx="3033065" cy="358445"/>
          </a:xfrm>
          <a:prstGeom prst="roundRect">
            <a:avLst/>
          </a:prstGeom>
          <a:solidFill>
            <a:srgbClr val="F3F7FB"/>
          </a:solidFill>
          <a:ln w="10160">
            <a:solidFill>
              <a:srgbClr val="DBE5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375" y="1767535"/>
            <a:ext cx="5790895" cy="4267505"/>
          </a:xfrm>
          <a:prstGeom prst="roundRect">
            <a:avLst/>
          </a:prstGeom>
          <a:solidFill>
            <a:srgbClr val="F3F7FB"/>
          </a:solidFill>
          <a:ln w="10160">
            <a:solidFill>
              <a:srgbClr val="DBE5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" y="2034540"/>
            <a:ext cx="5257800" cy="190195"/>
          </a:xfrm>
          <a:prstGeom prst="roundRect">
            <a:avLst/>
          </a:prstGeom>
          <a:solidFill>
            <a:srgbClr val="F3F7FB"/>
          </a:solidFill>
          <a:ln w="10160">
            <a:solidFill>
              <a:srgbClr val="DB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4380" y="2034540"/>
            <a:ext cx="1440180" cy="190195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CFE0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2061058"/>
            <a:ext cx="2080260" cy="137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" y="2438705"/>
            <a:ext cx="5257800" cy="3047695"/>
          </a:xfrm>
          <a:prstGeom prst="roundRect">
            <a:avLst/>
          </a:prstGeom>
          <a:solidFill>
            <a:srgbClr val="10243A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" y="2278685"/>
            <a:ext cx="2133295" cy="1234440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9945" y="2438705"/>
            <a:ext cx="1783080" cy="129845"/>
          </a:xfrm>
          <a:prstGeom prst="roundRect">
            <a:avLst/>
          </a:prstGeom>
          <a:solidFill>
            <a:srgbClr val="FFFFFF">
              <a:alpha val="600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9945" y="2644445"/>
            <a:ext cx="1783080" cy="281635"/>
          </a:xfrm>
          <a:prstGeom prst="round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9945" y="2987345"/>
            <a:ext cx="1783080" cy="36576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40380" y="2743200"/>
            <a:ext cx="685800" cy="304495"/>
          </a:xfrm>
          <a:prstGeom prst="round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78885" y="2278685"/>
            <a:ext cx="2133295" cy="123444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3535" y="2438705"/>
            <a:ext cx="1783080" cy="129845"/>
          </a:xfrm>
          <a:prstGeom prst="roundRect">
            <a:avLst/>
          </a:prstGeom>
          <a:solidFill>
            <a:srgbClr val="FFFFFF">
              <a:alpha val="86000"/>
            </a:srgbClr>
          </a:solidFill>
          <a:ln w="10160">
            <a:solidFill>
              <a:srgbClr val="D8E2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53535" y="2644445"/>
            <a:ext cx="1783080" cy="281635"/>
          </a:xfrm>
          <a:prstGeom prst="roundRect">
            <a:avLst/>
          </a:prstGeom>
          <a:solidFill>
            <a:srgbClr val="FFFFFF">
              <a:alpha val="86000"/>
            </a:srgbClr>
          </a:solidFill>
          <a:ln w="10160">
            <a:solidFill>
              <a:srgbClr val="D8E2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53535" y="2987345"/>
            <a:ext cx="1783080" cy="365760"/>
          </a:xfrm>
          <a:prstGeom prst="roundRect">
            <a:avLst/>
          </a:prstGeom>
          <a:solidFill>
            <a:srgbClr val="EDF5FF"/>
          </a:solidFill>
          <a:ln w="10160">
            <a:solidFill>
              <a:srgbClr val="D5E4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" y="3344875"/>
            <a:ext cx="2133295" cy="1234440"/>
          </a:xfrm>
          <a:prstGeom prst="roundRect">
            <a:avLst/>
          </a:prstGeom>
          <a:solidFill>
            <a:srgbClr val="EEFAF7"/>
          </a:solidFill>
          <a:ln w="10160">
            <a:solidFill>
              <a:srgbClr val="D6EB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" y="365760"/>
            <a:ext cx="5790895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C7F9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CLAW DESIGN / PAGE 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7375" y="632765"/>
            <a:ext cx="5790895" cy="150876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60" b="1" dirty="0">
                <a:solidFill>
                  <a:srgbClr val="0F1F3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真正拖慢团队的，不是不会做幻灯片， 而是旧式流程把表达拆得太碎</a:t>
            </a:r>
            <a:endParaRPr lang="en-US" sz="4060" dirty="0"/>
          </a:p>
        </p:txBody>
      </p:sp>
      <p:sp>
        <p:nvSpPr>
          <p:cNvPr id="24" name="Text 22"/>
          <p:cNvSpPr/>
          <p:nvPr/>
        </p:nvSpPr>
        <p:spPr>
          <a:xfrm>
            <a:off x="8671255" y="441655"/>
            <a:ext cx="3033065" cy="41879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F647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面向设计师、产品经理、创始人、研究者、独立构建者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4380" y="2034540"/>
            <a:ext cx="1440180" cy="25146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2354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旧式做 deck 的断裂链路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3931920" y="2061058"/>
            <a:ext cx="2080260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dirty="0">
                <a:solidFill>
                  <a:srgbClr val="71849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从想法到可展示结果，经常被切成多个低效步骤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929945" y="2438705"/>
            <a:ext cx="1783080" cy="1901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E819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01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29945" y="2644445"/>
            <a:ext cx="1783080" cy="3429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326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先写 brief</a:t>
            </a:r>
            <a:endParaRPr lang="en-US" sz="1820" dirty="0"/>
          </a:p>
        </p:txBody>
      </p:sp>
      <p:sp>
        <p:nvSpPr>
          <p:cNvPr id="29" name="Text 27"/>
          <p:cNvSpPr/>
          <p:nvPr/>
        </p:nvSpPr>
        <p:spPr>
          <a:xfrm>
            <a:off x="929945" y="2987345"/>
            <a:ext cx="1783080" cy="4270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F627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想法还很粗，但已经要开始组织结构、措辞和页面节奏。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3040380" y="2743200"/>
            <a:ext cx="685800" cy="372161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80" dirty="0">
                <a:solidFill>
                  <a:srgbClr val="89A0B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→</a:t>
            </a:r>
            <a:endParaRPr lang="en-US" sz="2380" dirty="0"/>
          </a:p>
        </p:txBody>
      </p:sp>
      <p:sp>
        <p:nvSpPr>
          <p:cNvPr id="31" name="Text 29"/>
          <p:cNvSpPr/>
          <p:nvPr/>
        </p:nvSpPr>
        <p:spPr>
          <a:xfrm>
            <a:off x="4053535" y="2438705"/>
            <a:ext cx="1783080" cy="1901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E819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02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053535" y="2644445"/>
            <a:ext cx="1783080" cy="3429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326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再找素材</a:t>
            </a:r>
            <a:endParaRPr lang="en-US" sz="1820" dirty="0"/>
          </a:p>
        </p:txBody>
      </p:sp>
      <p:sp>
        <p:nvSpPr>
          <p:cNvPr id="33" name="Text 31"/>
          <p:cNvSpPr/>
          <p:nvPr/>
        </p:nvSpPr>
        <p:spPr>
          <a:xfrm>
            <a:off x="4053535" y="2987345"/>
            <a:ext cx="1783080" cy="4270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F627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文档、研究、截图、来源散落在不同地方，难以直接进入页面。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929945" y="3504895"/>
            <a:ext cx="1783080" cy="1901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E819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03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929945" y="3710635"/>
            <a:ext cx="1783080" cy="3429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326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手工排版</a:t>
            </a:r>
            <a:endParaRPr lang="en-US" sz="1820" dirty="0"/>
          </a:p>
        </p:txBody>
      </p:sp>
      <p:sp>
        <p:nvSpPr>
          <p:cNvPr id="36" name="Text 34"/>
          <p:cNvSpPr/>
          <p:nvPr/>
        </p:nvSpPr>
        <p:spPr>
          <a:xfrm>
            <a:off x="929945" y="4053535"/>
            <a:ext cx="1783080" cy="4270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F627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每一页都要重新搭框架、调层级、对齐元素，重复劳动很多。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4053535" y="3413455"/>
            <a:ext cx="1783080" cy="1901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E819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04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4053535" y="3619195"/>
            <a:ext cx="1783080" cy="3429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326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反复改稿</a:t>
            </a:r>
            <a:endParaRPr lang="en-US" sz="1820" dirty="0"/>
          </a:p>
        </p:txBody>
      </p:sp>
      <p:sp>
        <p:nvSpPr>
          <p:cNvPr id="39" name="Text 37"/>
          <p:cNvSpPr/>
          <p:nvPr/>
        </p:nvSpPr>
        <p:spPr>
          <a:xfrm>
            <a:off x="4053535" y="3962095"/>
            <a:ext cx="1783080" cy="60990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F627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看完才发现逻辑不顺、密度失衡、页面溢出，再回头逐页修补。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929945" y="4549140"/>
            <a:ext cx="1783080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56728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结果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929945" y="4777740"/>
            <a:ext cx="1783080" cy="36576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60" b="1" dirty="0">
                <a:solidFill>
                  <a:srgbClr val="10243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时间花在“拼”</a:t>
            </a:r>
            <a:endParaRPr lang="en-US" sz="1960" dirty="0"/>
          </a:p>
        </p:txBody>
      </p:sp>
      <p:sp>
        <p:nvSpPr>
          <p:cNvPr id="42" name="Text 40"/>
          <p:cNvSpPr/>
          <p:nvPr/>
        </p:nvSpPr>
        <p:spPr>
          <a:xfrm>
            <a:off x="929945" y="5143500"/>
            <a:ext cx="1783080" cy="4270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607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而不是花在论点、结构、证据和最终表达质量上。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3040380" y="4876495"/>
            <a:ext cx="685800" cy="372161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80" b="1" dirty="0">
                <a:solidFill>
                  <a:srgbClr val="5F95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×</a:t>
            </a:r>
            <a:endParaRPr lang="en-US" sz="2380" dirty="0"/>
          </a:p>
        </p:txBody>
      </p:sp>
      <p:sp>
        <p:nvSpPr>
          <p:cNvPr id="44" name="Text 42"/>
          <p:cNvSpPr/>
          <p:nvPr/>
        </p:nvSpPr>
        <p:spPr>
          <a:xfrm>
            <a:off x="4053535" y="4457700"/>
            <a:ext cx="1783080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E819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核心问题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053535" y="4686300"/>
            <a:ext cx="1783080" cy="36576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60" b="1" dirty="0">
                <a:solidFill>
                  <a:srgbClr val="10243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流程彼此脱节</a:t>
            </a:r>
            <a:endParaRPr lang="en-US" sz="1960" dirty="0"/>
          </a:p>
        </p:txBody>
      </p:sp>
      <p:sp>
        <p:nvSpPr>
          <p:cNvPr id="46" name="Text 44"/>
          <p:cNvSpPr/>
          <p:nvPr/>
        </p:nvSpPr>
        <p:spPr>
          <a:xfrm>
            <a:off x="4053535" y="5052060"/>
            <a:ext cx="1783080" cy="60990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7607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内容、版式、审阅、导出不在同一工作台里，自然难以快速成稿。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6506870" y="1996135"/>
            <a:ext cx="1336853" cy="2971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D8E8F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Dominant Evidence Tile</a:t>
            </a:r>
            <a:endParaRPr lang="en-US" sz="910" dirty="0"/>
          </a:p>
        </p:txBody>
      </p:sp>
      <p:sp>
        <p:nvSpPr>
          <p:cNvPr id="48" name="Text 46"/>
          <p:cNvSpPr/>
          <p:nvPr/>
        </p:nvSpPr>
        <p:spPr>
          <a:xfrm>
            <a:off x="6506870" y="2400300"/>
            <a:ext cx="4267505" cy="112196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旧 workflow 的失败点，不在某一页，而在整个生成链路无法闭环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6506870" y="3598164"/>
            <a:ext cx="4496105" cy="77724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D3DFE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当 brief、内容整理、页面生成、人工审阅、修复和导出分散在不同工具里，用户每前进一步都要重新组织信息。结果是速度慢、质量不稳、展示前最后一轮最痛苦。</a:t>
            </a:r>
            <a:endParaRPr lang="en-US" sz="1330" dirty="0"/>
          </a:p>
        </p:txBody>
      </p:sp>
      <p:sp>
        <p:nvSpPr>
          <p:cNvPr id="50" name="Text 48"/>
          <p:cNvSpPr/>
          <p:nvPr/>
        </p:nvSpPr>
        <p:spPr>
          <a:xfrm>
            <a:off x="6506870" y="4482389"/>
            <a:ext cx="1127455" cy="37307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EF6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表达逻辑经常断裂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726680" y="4482389"/>
            <a:ext cx="1356055" cy="37307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EF6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页面质量依赖手工补救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174175" y="4482389"/>
            <a:ext cx="1470355" cy="37307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EF6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难以快速变成可演示版本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53835" y="4320540"/>
            <a:ext cx="2308860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F82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痛点 1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6453835" y="4549140"/>
            <a:ext cx="2308860" cy="5641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326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从 rough idea 到 deck，中间断层太多</a:t>
            </a:r>
            <a:endParaRPr lang="en-US" sz="1680" dirty="0"/>
          </a:p>
        </p:txBody>
      </p:sp>
      <p:sp>
        <p:nvSpPr>
          <p:cNvPr id="55" name="Text 53"/>
          <p:cNvSpPr/>
          <p:nvPr/>
        </p:nvSpPr>
        <p:spPr>
          <a:xfrm>
            <a:off x="6453835" y="5113325"/>
            <a:ext cx="2308860" cy="4187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0637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想法出现得很快，但变成能拿去讲的页面很慢。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219895" y="4320540"/>
            <a:ext cx="2308860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F82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痛点 2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9219895" y="4549140"/>
            <a:ext cx="2308860" cy="3127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326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越临近展示，返工越密集</a:t>
            </a:r>
            <a:endParaRPr lang="en-US" sz="1680" dirty="0"/>
          </a:p>
        </p:txBody>
      </p:sp>
      <p:sp>
        <p:nvSpPr>
          <p:cNvPr id="58" name="Text 56"/>
          <p:cNvSpPr/>
          <p:nvPr/>
        </p:nvSpPr>
        <p:spPr>
          <a:xfrm>
            <a:off x="9219895" y="4861865"/>
            <a:ext cx="2308860" cy="4187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0637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最后不是优化观点，而是在救版面、补结构、修导出。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53835" y="5310835"/>
            <a:ext cx="2308860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5A7694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为什么旧方式会失效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6453835" y="5539435"/>
            <a:ext cx="2308860" cy="54864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10" b="1" dirty="0">
                <a:solidFill>
                  <a:srgbClr val="15304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它把“做演示”当成排版问题，而不是完整的内容生产流程。</a:t>
            </a:r>
            <a:endParaRPr lang="en-US" sz="1610" dirty="0"/>
          </a:p>
        </p:txBody>
      </p:sp>
      <p:sp>
        <p:nvSpPr>
          <p:cNvPr id="61" name="Text 59"/>
          <p:cNvSpPr/>
          <p:nvPr/>
        </p:nvSpPr>
        <p:spPr>
          <a:xfrm>
            <a:off x="9219895" y="5310835"/>
            <a:ext cx="2308860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4F7E74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Claw Design 要解决的点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375" y="395935"/>
            <a:ext cx="11231575" cy="6080760"/>
          </a:xfrm>
          <a:prstGeom prst="roundRect">
            <a:avLst/>
          </a:prstGeom>
          <a:solidFill>
            <a:srgbClr val="FFFFFF">
              <a:alpha val="68000"/>
            </a:srgbClr>
          </a:solidFill>
          <a:ln w="10160">
            <a:solidFill>
              <a:srgbClr val="829CC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701345"/>
            <a:ext cx="3962095" cy="2809037"/>
          </a:xfrm>
          <a:prstGeom prst="roundRect">
            <a:avLst/>
          </a:prstGeom>
          <a:solidFill>
            <a:srgbClr val="E9F1FB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701345"/>
            <a:ext cx="805586" cy="3127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F99BF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49240" y="761695"/>
            <a:ext cx="5790895" cy="5333695"/>
          </a:xfrm>
          <a:prstGeom prst="roundRect">
            <a:avLst/>
          </a:prstGeom>
          <a:solidFill>
            <a:srgbClr val="557299">
              <a:alpha val="2200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2550" y="1341425"/>
            <a:ext cx="4038905" cy="2347265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53835" y="1531620"/>
            <a:ext cx="1591056" cy="137160"/>
          </a:xfrm>
          <a:prstGeom prst="roundRect">
            <a:avLst/>
          </a:prstGeom>
          <a:solidFill>
            <a:srgbClr val="C9D8EA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53835" y="1790395"/>
            <a:ext cx="3566160" cy="329184"/>
          </a:xfrm>
          <a:prstGeom prst="roundRect">
            <a:avLst/>
          </a:prstGeom>
          <a:solidFill>
            <a:srgbClr val="DFF0FF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53835" y="2247595"/>
            <a:ext cx="3566160" cy="7315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3835" y="2461565"/>
            <a:ext cx="2201875" cy="395935"/>
          </a:xfrm>
          <a:prstGeom prst="roundRect">
            <a:avLst/>
          </a:prstGeom>
          <a:solidFill>
            <a:srgbClr val="FFFFFF">
              <a:alpha val="82000"/>
            </a:srgbClr>
          </a:solidFill>
          <a:ln w="10160">
            <a:solidFill>
              <a:srgbClr val="7F99B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53835" y="2461565"/>
            <a:ext cx="395935" cy="395935"/>
          </a:xfrm>
          <a:prstGeom prst="roundRect">
            <a:avLst/>
          </a:prstGeom>
          <a:solidFill>
            <a:srgbClr val="FFFFFF">
              <a:alpha val="86000"/>
            </a:srgbClr>
          </a:solidFill>
          <a:ln w="10160">
            <a:solidFill>
              <a:srgbClr val="7F99B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72300" y="2461565"/>
            <a:ext cx="1684325" cy="395935"/>
          </a:xfrm>
          <a:prstGeom prst="roundRect">
            <a:avLst/>
          </a:prstGeom>
          <a:solidFill>
            <a:srgbClr val="F1F8FF"/>
          </a:solidFill>
          <a:ln w="10160">
            <a:solidFill>
              <a:srgbClr val="6F96CC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72300" y="2461565"/>
            <a:ext cx="1684325" cy="213055"/>
          </a:xfrm>
          <a:prstGeom prst="roundRect">
            <a:avLst/>
          </a:prstGeom>
          <a:solidFill>
            <a:srgbClr val="E6F1FF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2300" y="2674620"/>
            <a:ext cx="1684325" cy="182880"/>
          </a:xfrm>
          <a:prstGeom prst="roundRect">
            <a:avLst/>
          </a:prstGeom>
          <a:solidFill>
            <a:srgbClr val="FFFFFF">
              <a:alpha val="86000"/>
            </a:srgbClr>
          </a:solidFill>
          <a:ln w="10160">
            <a:solidFill>
              <a:srgbClr val="7F99B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11035" y="2933395"/>
            <a:ext cx="15545" cy="258775"/>
          </a:xfrm>
          <a:prstGeom prst="rect">
            <a:avLst/>
          </a:prstGeom>
          <a:solidFill>
            <a:srgbClr val="D6E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3835" y="3238805"/>
            <a:ext cx="2201875" cy="395935"/>
          </a:xfrm>
          <a:prstGeom prst="roundRect">
            <a:avLst/>
          </a:prstGeom>
          <a:solidFill>
            <a:srgbClr val="8FB6E6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53835" y="3238805"/>
            <a:ext cx="395935" cy="395935"/>
          </a:xfrm>
          <a:prstGeom prst="roundRect">
            <a:avLst/>
          </a:prstGeom>
          <a:solidFill>
            <a:srgbClr val="D1DEEC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72300" y="3238805"/>
            <a:ext cx="1684325" cy="395935"/>
          </a:xfrm>
          <a:prstGeom prst="roundRect">
            <a:avLst/>
          </a:prstGeom>
          <a:solidFill>
            <a:srgbClr val="9EBEE0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72300" y="3238805"/>
            <a:ext cx="1684325" cy="213055"/>
          </a:xfrm>
          <a:prstGeom prst="roundRect">
            <a:avLst/>
          </a:prstGeom>
          <a:solidFill>
            <a:srgbClr val="FFFFFF">
              <a:alpha val="78000"/>
            </a:srgbClr>
          </a:solidFill>
          <a:ln w="10160">
            <a:solidFill>
              <a:srgbClr val="7F99B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72300" y="3451860"/>
            <a:ext cx="1684325" cy="18288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0160">
            <a:solidFill>
              <a:srgbClr val="7F99BF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761695"/>
            <a:ext cx="1890065" cy="1630375"/>
          </a:xfrm>
          <a:prstGeom prst="roundRect">
            <a:avLst/>
          </a:prstGeom>
          <a:solidFill>
            <a:srgbClr val="FFFFFF">
              <a:alpha val="78000"/>
            </a:srgbClr>
          </a:solidFill>
          <a:ln w="10160">
            <a:solidFill>
              <a:srgbClr val="7F99BF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54980" y="967435"/>
            <a:ext cx="1478585" cy="160020"/>
          </a:xfrm>
          <a:prstGeom prst="roundRect">
            <a:avLst/>
          </a:prstGeom>
          <a:solidFill>
            <a:srgbClr val="FFFFFF">
              <a:alpha val="78000"/>
            </a:srgbClr>
          </a:solidFill>
          <a:ln w="10160">
            <a:solidFill>
              <a:srgbClr val="7F99BF">
                <a:alpha val="1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701345"/>
            <a:ext cx="805586" cy="373075"/>
          </a:xfrm>
          <a:prstGeom prst="rect">
            <a:avLst/>
          </a:prstGeom>
          <a:solidFill>
            <a:srgbClr val="E9F1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34506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核心流程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822960" y="1181405"/>
            <a:ext cx="3962095" cy="103601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60" b="1" dirty="0">
                <a:solidFill>
                  <a:srgbClr val="13203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从粗略 brief 到可交付 deck</a:t>
            </a:r>
            <a:endParaRPr lang="en-US" sz="4060" dirty="0"/>
          </a:p>
        </p:txBody>
      </p:sp>
      <p:sp>
        <p:nvSpPr>
          <p:cNvPr id="25" name="Text 23"/>
          <p:cNvSpPr/>
          <p:nvPr/>
        </p:nvSpPr>
        <p:spPr>
          <a:xfrm>
            <a:off x="822960" y="2303374"/>
            <a:ext cx="3810305" cy="126827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dirty="0">
                <a:solidFill>
                  <a:srgbClr val="4D627D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Claw Design 把演示文稿制作拆成一条清晰链路：先理解输入，再生成固定 16:9 页面，随后进入 review、edit 与 export，让内容、版式与交付保持在同一工作台内推进。</a:t>
            </a:r>
            <a:endParaRPr lang="en-US" sz="1680" dirty="0"/>
          </a:p>
        </p:txBody>
      </p:sp>
      <p:sp>
        <p:nvSpPr>
          <p:cNvPr id="26" name="Text 24"/>
          <p:cNvSpPr/>
          <p:nvPr/>
        </p:nvSpPr>
        <p:spPr>
          <a:xfrm>
            <a:off x="6453835" y="1531620"/>
            <a:ext cx="1591056" cy="20756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6A7F9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DOMINANT FLOW TILE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6453835" y="1790395"/>
            <a:ext cx="3566160" cy="39044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13203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一次成链，而不是多工具跳转</a:t>
            </a:r>
            <a:endParaRPr lang="en-US" sz="2520" dirty="0"/>
          </a:p>
        </p:txBody>
      </p:sp>
      <p:sp>
        <p:nvSpPr>
          <p:cNvPr id="28" name="Text 26"/>
          <p:cNvSpPr/>
          <p:nvPr/>
        </p:nvSpPr>
        <p:spPr>
          <a:xfrm>
            <a:off x="6453835" y="2461565"/>
            <a:ext cx="395935" cy="457200"/>
          </a:xfrm>
          <a:prstGeom prst="rect">
            <a:avLst/>
          </a:prstGeom>
          <a:solidFill>
            <a:srgbClr val="EAF2FC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D4F91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1</a:t>
            </a:r>
            <a:endParaRPr lang="en-US" sz="1540" dirty="0"/>
          </a:p>
        </p:txBody>
      </p:sp>
      <p:sp>
        <p:nvSpPr>
          <p:cNvPr id="29" name="Text 27"/>
          <p:cNvSpPr/>
          <p:nvPr/>
        </p:nvSpPr>
        <p:spPr>
          <a:xfrm>
            <a:off x="6972300" y="2461565"/>
            <a:ext cx="1684325" cy="280721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8304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Brief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6972300" y="2674620"/>
            <a:ext cx="1684325" cy="2441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61758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把想法、结构和目标先说清楚</a:t>
            </a:r>
            <a:endParaRPr lang="en-US" sz="1190" dirty="0"/>
          </a:p>
        </p:txBody>
      </p:sp>
      <p:sp>
        <p:nvSpPr>
          <p:cNvPr id="31" name="Text 29"/>
          <p:cNvSpPr/>
          <p:nvPr/>
        </p:nvSpPr>
        <p:spPr>
          <a:xfrm>
            <a:off x="6453835" y="3238805"/>
            <a:ext cx="395935" cy="457200"/>
          </a:xfrm>
          <a:prstGeom prst="rect">
            <a:avLst/>
          </a:prstGeom>
          <a:solidFill>
            <a:srgbClr val="DFF0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D67B0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2</a:t>
            </a:r>
            <a:endParaRPr lang="en-US" sz="1540" dirty="0"/>
          </a:p>
        </p:txBody>
      </p:sp>
      <p:sp>
        <p:nvSpPr>
          <p:cNvPr id="32" name="Text 30"/>
          <p:cNvSpPr/>
          <p:nvPr/>
        </p:nvSpPr>
        <p:spPr>
          <a:xfrm>
            <a:off x="6972300" y="3238805"/>
            <a:ext cx="1684325" cy="280721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18304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Generate</a:t>
            </a:r>
            <a:endParaRPr lang="en-US" sz="1680" dirty="0"/>
          </a:p>
        </p:txBody>
      </p:sp>
      <p:sp>
        <p:nvSpPr>
          <p:cNvPr id="33" name="Text 31"/>
          <p:cNvSpPr/>
          <p:nvPr/>
        </p:nvSpPr>
        <p:spPr>
          <a:xfrm>
            <a:off x="6972300" y="3451860"/>
            <a:ext cx="1684325" cy="2441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61758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生成可审阅的页面与叙事骨架</a:t>
            </a:r>
            <a:endParaRPr lang="en-US" sz="1190" dirty="0"/>
          </a:p>
        </p:txBody>
      </p:sp>
      <p:sp>
        <p:nvSpPr>
          <p:cNvPr id="34" name="Text 32"/>
          <p:cNvSpPr/>
          <p:nvPr/>
        </p:nvSpPr>
        <p:spPr>
          <a:xfrm>
            <a:off x="5554980" y="967435"/>
            <a:ext cx="1478585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A7F9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输入起点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54980" y="1249985"/>
            <a:ext cx="1478585" cy="3355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53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从 brief 开始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5554980" y="1630375"/>
            <a:ext cx="1478585" cy="7013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6B8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不是先画页，而是先明确这份 deck 要讲什么、给谁看、要达成什么。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9455810" y="1058875"/>
            <a:ext cx="1478585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A7F9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首轮产出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455810" y="1341425"/>
            <a:ext cx="1478585" cy="60990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53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先生成可看版本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455810" y="1996135"/>
            <a:ext cx="1478585" cy="7013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6B8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先把页面做出来，再进入判断与修正，避免长期停留在空白画布。</a:t>
            </a:r>
            <a:endParaRPr lang="en-US" sz="1260" dirty="0"/>
          </a:p>
        </p:txBody>
      </p:sp>
      <p:sp>
        <p:nvSpPr>
          <p:cNvPr id="40" name="Text 38"/>
          <p:cNvSpPr/>
          <p:nvPr/>
        </p:nvSpPr>
        <p:spPr>
          <a:xfrm>
            <a:off x="5799125" y="3650285"/>
            <a:ext cx="1615745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A7F9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质量关口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99125" y="3916375"/>
            <a:ext cx="1615745" cy="3355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53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Review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5799125" y="4282135"/>
            <a:ext cx="1615745" cy="7013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6B8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回到页面本身看信息是否清楚、结构是否成立、是否已经能用于演示。</a:t>
            </a:r>
            <a:endParaRPr lang="en-US" sz="1260" dirty="0"/>
          </a:p>
        </p:txBody>
      </p:sp>
      <p:sp>
        <p:nvSpPr>
          <p:cNvPr id="43" name="Text 41"/>
          <p:cNvSpPr/>
          <p:nvPr/>
        </p:nvSpPr>
        <p:spPr>
          <a:xfrm>
            <a:off x="8099755" y="3650285"/>
            <a:ext cx="1615745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D7BA1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迭代中心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99755" y="3916375"/>
            <a:ext cx="1615745" cy="3355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365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Edit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8099755" y="4282135"/>
            <a:ext cx="1615745" cy="7013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4F688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在已有结果上继续改文案、调逻辑、修页面，而不是推倒重来。</a:t>
            </a:r>
            <a:endParaRPr lang="en-US" sz="1260" dirty="0"/>
          </a:p>
        </p:txBody>
      </p:sp>
      <p:sp>
        <p:nvSpPr>
          <p:cNvPr id="46" name="Text 44"/>
          <p:cNvSpPr/>
          <p:nvPr/>
        </p:nvSpPr>
        <p:spPr>
          <a:xfrm>
            <a:off x="8099755" y="5056632"/>
            <a:ext cx="1615745" cy="548640"/>
          </a:xfrm>
          <a:prstGeom prst="rect">
            <a:avLst/>
          </a:prstGeom>
          <a:solidFill>
            <a:srgbClr val="E6F1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5D9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生成与编辑在同一流程里闭环</a:t>
            </a:r>
            <a:endParaRPr lang="en-US" sz="1120" dirty="0"/>
          </a:p>
        </p:txBody>
      </p:sp>
      <p:sp>
        <p:nvSpPr>
          <p:cNvPr id="47" name="Text 45"/>
          <p:cNvSpPr/>
          <p:nvPr/>
        </p:nvSpPr>
        <p:spPr>
          <a:xfrm>
            <a:off x="9395460" y="3650285"/>
            <a:ext cx="1478585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A7F9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交付出口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395460" y="3916375"/>
            <a:ext cx="1478585" cy="3355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53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Export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9395460" y="4282135"/>
            <a:ext cx="1478585" cy="9144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6B8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把已经审过、改过的内容导出为可用成果，直接进入分享、汇报或继续协作。</a:t>
            </a:r>
            <a:endParaRPr lang="en-US" sz="1260" dirty="0"/>
          </a:p>
        </p:txBody>
      </p:sp>
      <p:sp>
        <p:nvSpPr>
          <p:cNvPr id="50" name="Text 48"/>
          <p:cNvSpPr/>
          <p:nvPr/>
        </p:nvSpPr>
        <p:spPr>
          <a:xfrm>
            <a:off x="838505" y="5287975"/>
            <a:ext cx="1165860" cy="44165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445A74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先生成，再判断</a:t>
            </a:r>
            <a:endParaRPr lang="en-US" sz="1190" dirty="0"/>
          </a:p>
        </p:txBody>
      </p:sp>
      <p:sp>
        <p:nvSpPr>
          <p:cNvPr id="51" name="Text 49"/>
          <p:cNvSpPr/>
          <p:nvPr/>
        </p:nvSpPr>
        <p:spPr>
          <a:xfrm>
            <a:off x="2110435" y="5287975"/>
            <a:ext cx="1420978" cy="44165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445A74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围绕页面持续 review</a:t>
            </a:r>
            <a:endParaRPr lang="en-US" sz="1190" dirty="0"/>
          </a:p>
        </p:txBody>
      </p:sp>
      <p:sp>
        <p:nvSpPr>
          <p:cNvPr id="52" name="Text 50"/>
          <p:cNvSpPr/>
          <p:nvPr/>
        </p:nvSpPr>
        <p:spPr>
          <a:xfrm>
            <a:off x="838505" y="5776265"/>
            <a:ext cx="1554480" cy="44165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445A74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把编辑留在同一工作台</a:t>
            </a:r>
            <a:endParaRPr lang="en-US" sz="1190" dirty="0"/>
          </a:p>
        </p:txBody>
      </p:sp>
      <p:sp>
        <p:nvSpPr>
          <p:cNvPr id="53" name="Text 51"/>
          <p:cNvSpPr/>
          <p:nvPr/>
        </p:nvSpPr>
        <p:spPr>
          <a:xfrm>
            <a:off x="2499055" y="5776265"/>
            <a:ext cx="1554480" cy="44165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445A74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最后导出为可交付成果</a:t>
            </a:r>
            <a:endParaRPr lang="en-US" sz="11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41655"/>
            <a:ext cx="11094415" cy="986638"/>
          </a:xfrm>
          <a:prstGeom prst="roundRect">
            <a:avLst/>
          </a:prstGeom>
          <a:solidFill>
            <a:srgbClr val="FFFFFF">
              <a:alpha val="72000"/>
            </a:srgbClr>
          </a:solidFill>
          <a:ln w="10160">
            <a:solidFill>
              <a:srgbClr val="5F7A9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41655"/>
            <a:ext cx="5943600" cy="986638"/>
          </a:xfrm>
          <a:prstGeom prst="roundRect">
            <a:avLst/>
          </a:prstGeom>
          <a:solidFill>
            <a:srgbClr val="12324F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41655"/>
            <a:ext cx="5943600" cy="129845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518465"/>
            <a:ext cx="2727655" cy="36576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11094415" cy="4709160"/>
          </a:xfrm>
          <a:prstGeom prst="round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08760"/>
            <a:ext cx="5653735" cy="2667305"/>
          </a:xfrm>
          <a:prstGeom prst="round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5653735" cy="2667305"/>
          </a:xfrm>
          <a:prstGeom prst="round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7415" y="1737360"/>
            <a:ext cx="609905" cy="152705"/>
          </a:xfrm>
          <a:prstGeom prst="roundRect">
            <a:avLst/>
          </a:prstGeom>
          <a:solidFill>
            <a:srgbClr val="FFFFFF">
              <a:alpha val="12000"/>
            </a:srgbClr>
          </a:solidFill>
          <a:ln w="10160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7415" y="1996135"/>
            <a:ext cx="5136185" cy="621792"/>
          </a:xfrm>
          <a:prstGeom prst="round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7415" y="2758745"/>
            <a:ext cx="5136185" cy="777240"/>
          </a:xfrm>
          <a:prstGeom prst="round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415" y="2758745"/>
            <a:ext cx="1081735" cy="335585"/>
          </a:xfrm>
          <a:prstGeom prst="roundRect">
            <a:avLst/>
          </a:prstGeom>
          <a:solidFill>
            <a:srgbClr val="FFFFFF">
              <a:alpha val="16000"/>
            </a:srgbClr>
          </a:solidFill>
          <a:ln w="1016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6135" y="2758745"/>
            <a:ext cx="1272845" cy="335585"/>
          </a:xfrm>
          <a:prstGeom prst="round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75965" y="2758745"/>
            <a:ext cx="1213409" cy="335585"/>
          </a:xfrm>
          <a:prstGeom prst="round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415" y="3200400"/>
            <a:ext cx="1254557" cy="335585"/>
          </a:xfrm>
          <a:prstGeom prst="roundRect">
            <a:avLst/>
          </a:prstGeom>
          <a:solidFill>
            <a:srgbClr val="FFFFFF">
              <a:alpha val="82000"/>
            </a:srgbClr>
          </a:solidFill>
          <a:ln w="10160">
            <a:solidFill>
              <a:srgbClr val="849DB7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68957" y="3200400"/>
            <a:ext cx="1602943" cy="335585"/>
          </a:xfrm>
          <a:prstGeom prst="roundRect">
            <a:avLst/>
          </a:prstGeom>
          <a:solidFill>
            <a:srgbClr val="FFFFFF">
              <a:alpha val="82000"/>
            </a:srgbClr>
          </a:solidFill>
          <a:ln w="10160">
            <a:solidFill>
              <a:srgbClr val="849DB7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7415" y="3246120"/>
            <a:ext cx="5136185" cy="670255"/>
          </a:xfrm>
          <a:prstGeom prst="roundRect">
            <a:avLst/>
          </a:prstGeom>
          <a:solidFill>
            <a:srgbClr val="FFFFFF">
              <a:alpha val="82000"/>
            </a:srgbClr>
          </a:solidFill>
          <a:ln w="10160">
            <a:solidFill>
              <a:srgbClr val="849DB7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415" y="3246120"/>
            <a:ext cx="966521" cy="670255"/>
          </a:xfrm>
          <a:prstGeom prst="roundRect">
            <a:avLst/>
          </a:prstGeom>
          <a:solidFill>
            <a:srgbClr val="FFFFFF">
              <a:alpha val="84000"/>
            </a:srgbClr>
          </a:solidFill>
          <a:ln w="10160">
            <a:solidFill>
              <a:srgbClr val="849DB7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715" y="3344875"/>
            <a:ext cx="737921" cy="106985"/>
          </a:xfrm>
          <a:prstGeom prst="roundRect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849DB7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715" y="3527755"/>
            <a:ext cx="737921" cy="161849"/>
          </a:xfrm>
          <a:prstGeom prst="roundRect">
            <a:avLst/>
          </a:prstGeom>
          <a:solidFill>
            <a:srgbClr val="EEF5FB"/>
          </a:solidFill>
          <a:ln w="10160">
            <a:solidFill>
              <a:srgbClr val="849DB7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49831" y="3246120"/>
            <a:ext cx="966521" cy="67025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49DB7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4131" y="3344875"/>
            <a:ext cx="737921" cy="106985"/>
          </a:xfrm>
          <a:prstGeom prst="roundRect">
            <a:avLst/>
          </a:prstGeom>
          <a:solidFill>
            <a:srgbClr val="2F6F98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1655"/>
            <a:ext cx="5943600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819D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CLAW DESIGN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78485"/>
            <a:ext cx="5943600" cy="8156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80" b="1" dirty="0">
                <a:solidFill>
                  <a:srgbClr val="10203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关键能力不是功能堆叠，而是一条能稳定产出 16:9 成品页的工作链路</a:t>
            </a:r>
            <a:endParaRPr lang="en-US" sz="3080" dirty="0"/>
          </a:p>
        </p:txBody>
      </p:sp>
      <p:sp>
        <p:nvSpPr>
          <p:cNvPr id="26" name="Text 24"/>
          <p:cNvSpPr/>
          <p:nvPr/>
        </p:nvSpPr>
        <p:spPr>
          <a:xfrm>
            <a:off x="8915400" y="518465"/>
            <a:ext cx="2727655" cy="42702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4E647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本地优先 · 固定画布 · 可审阅 · 可修复 · 可导出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07415" y="1737360"/>
            <a:ext cx="609905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DCEBF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核心差异化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807415" y="1996135"/>
            <a:ext cx="5136185" cy="6858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80" b="1" dirty="0">
                <a:solidFill>
                  <a:srgbClr val="FFFF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它把“生成”放进一套面向交付的页面系统里，而不是停在一次性输出。</a:t>
            </a:r>
            <a:endParaRPr lang="en-US" sz="2380" dirty="0"/>
          </a:p>
        </p:txBody>
      </p:sp>
      <p:sp>
        <p:nvSpPr>
          <p:cNvPr id="29" name="Text 27"/>
          <p:cNvSpPr/>
          <p:nvPr/>
        </p:nvSpPr>
        <p:spPr>
          <a:xfrm>
            <a:off x="807415" y="2758745"/>
            <a:ext cx="1081735" cy="39593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EBF4F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本地优先工作流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996135" y="2758745"/>
            <a:ext cx="1272845" cy="39593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EBF4F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固定 1600×900 画布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3375965" y="2758745"/>
            <a:ext cx="1213409" cy="39593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EBF4F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review / repair 闭环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807415" y="3200400"/>
            <a:ext cx="1254557" cy="39593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EBF4F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source-backed ingest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2168957" y="3200400"/>
            <a:ext cx="1602943" cy="39593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EBF4F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HTML / PPTX 可编辑导出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921715" y="3344875"/>
            <a:ext cx="737921" cy="17099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DDEBF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01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921715" y="3527755"/>
            <a:ext cx="737921" cy="223114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FFFF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Brief</a:t>
            </a:r>
            <a:endParaRPr lang="en-US" sz="1190" dirty="0"/>
          </a:p>
        </p:txBody>
      </p:sp>
      <p:sp>
        <p:nvSpPr>
          <p:cNvPr id="36" name="Text 34"/>
          <p:cNvSpPr/>
          <p:nvPr/>
        </p:nvSpPr>
        <p:spPr>
          <a:xfrm>
            <a:off x="1964131" y="3344875"/>
            <a:ext cx="737921" cy="17099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DDEBF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02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1964131" y="3527755"/>
            <a:ext cx="737921" cy="223114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FFFF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Generate</a:t>
            </a:r>
            <a:endParaRPr lang="en-US" sz="1190" dirty="0"/>
          </a:p>
        </p:txBody>
      </p:sp>
      <p:sp>
        <p:nvSpPr>
          <p:cNvPr id="38" name="Text 36"/>
          <p:cNvSpPr/>
          <p:nvPr/>
        </p:nvSpPr>
        <p:spPr>
          <a:xfrm>
            <a:off x="3006547" y="3344875"/>
            <a:ext cx="737921" cy="17099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DDEBF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03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3006547" y="3527755"/>
            <a:ext cx="737921" cy="223114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FFFF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Review</a:t>
            </a:r>
            <a:endParaRPr lang="en-US" sz="1190" dirty="0"/>
          </a:p>
        </p:txBody>
      </p:sp>
      <p:sp>
        <p:nvSpPr>
          <p:cNvPr id="40" name="Text 38"/>
          <p:cNvSpPr/>
          <p:nvPr/>
        </p:nvSpPr>
        <p:spPr>
          <a:xfrm>
            <a:off x="4048963" y="3344875"/>
            <a:ext cx="737921" cy="17099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DDEBF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04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4048963" y="3527755"/>
            <a:ext cx="737921" cy="223114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FFFF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Repair</a:t>
            </a:r>
            <a:endParaRPr lang="en-US" sz="1190" dirty="0"/>
          </a:p>
        </p:txBody>
      </p:sp>
      <p:sp>
        <p:nvSpPr>
          <p:cNvPr id="42" name="Text 40"/>
          <p:cNvSpPr/>
          <p:nvPr/>
        </p:nvSpPr>
        <p:spPr>
          <a:xfrm>
            <a:off x="5091379" y="3344875"/>
            <a:ext cx="737921" cy="17099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DDEBF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05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5091379" y="3527755"/>
            <a:ext cx="737921" cy="223114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FFFF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Export</a:t>
            </a:r>
            <a:endParaRPr lang="en-US" sz="1190" dirty="0"/>
          </a:p>
        </p:txBody>
      </p:sp>
      <p:sp>
        <p:nvSpPr>
          <p:cNvPr id="44" name="Text 42"/>
          <p:cNvSpPr/>
          <p:nvPr/>
        </p:nvSpPr>
        <p:spPr>
          <a:xfrm>
            <a:off x="6621170" y="1730045"/>
            <a:ext cx="4785055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83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01 本地优先工作流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21170" y="1996135"/>
            <a:ext cx="4785055" cy="60990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233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浏览器内保存工作区状态，围绕单机创作与迭代，而不是先假设云端协作。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621170" y="2636215"/>
            <a:ext cx="4785055" cy="261518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51657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更适合快速起稿、连续修改、反复试验页面，而不是被重流程和远端依赖拖慢。</a:t>
            </a:r>
            <a:endParaRPr lang="en-US" sz="1190" dirty="0"/>
          </a:p>
        </p:txBody>
      </p:sp>
      <p:sp>
        <p:nvSpPr>
          <p:cNvPr id="47" name="Text 45"/>
          <p:cNvSpPr/>
          <p:nvPr/>
        </p:nvSpPr>
        <p:spPr>
          <a:xfrm>
            <a:off x="9304020" y="3116275"/>
            <a:ext cx="2148840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83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02 固定画布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304020" y="3383280"/>
            <a:ext cx="2148840" cy="803758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60" b="1" dirty="0">
                <a:solidFill>
                  <a:srgbClr val="11233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所有输出都落在固定 16:9 的 HTML 页面上。</a:t>
            </a:r>
            <a:endParaRPr lang="en-US" sz="1960" dirty="0"/>
          </a:p>
        </p:txBody>
      </p:sp>
      <p:sp>
        <p:nvSpPr>
          <p:cNvPr id="49" name="Text 47"/>
          <p:cNvSpPr/>
          <p:nvPr/>
        </p:nvSpPr>
        <p:spPr>
          <a:xfrm>
            <a:off x="9304020" y="4217213"/>
            <a:ext cx="2148840" cy="4416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1657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不是任意网页排版，而是面向 PPT 式构图、预览与导出的成品画布。</a:t>
            </a:r>
            <a:endParaRPr lang="en-US" sz="1120" dirty="0"/>
          </a:p>
        </p:txBody>
      </p:sp>
      <p:sp>
        <p:nvSpPr>
          <p:cNvPr id="50" name="Text 48"/>
          <p:cNvSpPr/>
          <p:nvPr/>
        </p:nvSpPr>
        <p:spPr>
          <a:xfrm>
            <a:off x="6575450" y="3116275"/>
            <a:ext cx="2148840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83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03 REVIEW / REPAIR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575450" y="3353105"/>
            <a:ext cx="2148840" cy="803758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60" b="1" dirty="0">
                <a:solidFill>
                  <a:srgbClr val="11233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先审阅版面问题，再只修真正的 hard failure。</a:t>
            </a:r>
            <a:endParaRPr lang="en-US" sz="1960" dirty="0"/>
          </a:p>
        </p:txBody>
      </p:sp>
      <p:sp>
        <p:nvSpPr>
          <p:cNvPr id="52" name="Text 50"/>
          <p:cNvSpPr/>
          <p:nvPr/>
        </p:nvSpPr>
        <p:spPr>
          <a:xfrm>
            <a:off x="6575450" y="4186123"/>
            <a:ext cx="2148840" cy="4416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1657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关注 fit、标题质量、信息密度与导出就绪度，避免把每次生成都变成重做。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769925" y="4579315"/>
            <a:ext cx="3367735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83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04 SOURCE-BACKED INGEST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69925" y="4800600"/>
            <a:ext cx="3367735" cy="58247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30" b="1" dirty="0">
                <a:solidFill>
                  <a:srgbClr val="11233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不是把素材一股脑塞进提示词，而是优先走有来源的内容引入链路。</a:t>
            </a:r>
            <a:endParaRPr lang="en-US" sz="2030" dirty="0"/>
          </a:p>
        </p:txBody>
      </p:sp>
      <p:sp>
        <p:nvSpPr>
          <p:cNvPr id="55" name="Text 53"/>
          <p:cNvSpPr/>
          <p:nvPr/>
        </p:nvSpPr>
        <p:spPr>
          <a:xfrm>
            <a:off x="769925" y="5413248"/>
            <a:ext cx="3367735" cy="4727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51657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对需要依据原始资料生成 deck 的场景更重要，能把“有来源”保留到后续页面生成与导出。</a:t>
            </a:r>
            <a:endParaRPr lang="en-US" sz="1190" dirty="0"/>
          </a:p>
        </p:txBody>
      </p:sp>
      <p:sp>
        <p:nvSpPr>
          <p:cNvPr id="56" name="Text 54"/>
          <p:cNvSpPr/>
          <p:nvPr/>
        </p:nvSpPr>
        <p:spPr>
          <a:xfrm>
            <a:off x="4762195" y="4807915"/>
            <a:ext cx="3870655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83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05 EDITABLE EXPORT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762195" y="5029200"/>
            <a:ext cx="3870655" cy="60167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233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目标不是截图式交付，而是可发布 HTML 与可编辑 PPTX。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4762195" y="5660136"/>
            <a:ext cx="3870655" cy="46543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51657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生成、预览、修正和导出围绕同一套页面结构展开，减少“导出时重新做一遍”的断层。</a:t>
            </a:r>
            <a:endParaRPr lang="en-US" sz="1190" dirty="0"/>
          </a:p>
        </p:txBody>
      </p:sp>
      <p:sp>
        <p:nvSpPr>
          <p:cNvPr id="59" name="Text 57"/>
          <p:cNvSpPr/>
          <p:nvPr/>
        </p:nvSpPr>
        <p:spPr>
          <a:xfrm>
            <a:off x="7962595" y="4853635"/>
            <a:ext cx="3474720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83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一句话理解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962595" y="5105095"/>
            <a:ext cx="3474720" cy="854964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60" b="1" dirty="0">
                <a:solidFill>
                  <a:srgbClr val="14314C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Claw Design 更像一个“可审阅、可修复、可导出”的页面工作台，而不只是一个出稿按钮。</a:t>
            </a:r>
            <a:endParaRPr lang="en-US" sz="1960" dirty="0"/>
          </a:p>
        </p:txBody>
      </p:sp>
      <p:sp>
        <p:nvSpPr>
          <p:cNvPr id="61" name="Text 59"/>
          <p:cNvSpPr/>
          <p:nvPr/>
        </p:nvSpPr>
        <p:spPr>
          <a:xfrm>
            <a:off x="731520" y="5597042"/>
            <a:ext cx="5875934" cy="2816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3495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这页强调的不是“功能更多”，而是“从 brief 到成品页”的链路更完整、更接近真实交付。</a:t>
            </a:r>
            <a:endParaRPr lang="en-US" sz="1010" dirty="0"/>
          </a:p>
        </p:txBody>
      </p:sp>
      <p:sp>
        <p:nvSpPr>
          <p:cNvPr id="62" name="Text 60"/>
          <p:cNvSpPr/>
          <p:nvPr/>
        </p:nvSpPr>
        <p:spPr>
          <a:xfrm>
            <a:off x="11098073" y="5623560"/>
            <a:ext cx="544982" cy="22860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6B819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Page 4 / 6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41655"/>
            <a:ext cx="11094415" cy="1287475"/>
          </a:xfrm>
          <a:prstGeom prst="roundRect">
            <a:avLst/>
          </a:prstGeom>
          <a:solidFill>
            <a:srgbClr val="FFFFFF">
              <a:alpha val="75000"/>
            </a:srgbClr>
          </a:solidFill>
          <a:ln w="10160">
            <a:solidFill>
              <a:srgbClr val="5A749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41655"/>
            <a:ext cx="6858000" cy="12874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29CB8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41655"/>
            <a:ext cx="6858000" cy="129845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2780" y="518465"/>
            <a:ext cx="830275" cy="327355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11094415" cy="475488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7A95B0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00200"/>
            <a:ext cx="6655918" cy="4754880"/>
          </a:xfrm>
          <a:prstGeom prst="roundRect">
            <a:avLst/>
          </a:prstGeom>
          <a:solidFill>
            <a:srgbClr val="F7FBFF"/>
          </a:solidFill>
          <a:ln w="10160">
            <a:solidFill>
              <a:srgbClr val="7A95B0">
                <a:alpha val="1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63033" y="1378915"/>
            <a:ext cx="2438705" cy="2438705"/>
          </a:xfrm>
          <a:prstGeom prst="roundRect">
            <a:avLst/>
          </a:prstGeom>
          <a:solidFill>
            <a:srgbClr val="F2F8FF"/>
          </a:solidFill>
          <a:ln w="10160">
            <a:solidFill>
              <a:srgbClr val="6685A3">
                <a:alpha val="1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5645" y="1867205"/>
            <a:ext cx="6122822" cy="561442"/>
          </a:xfrm>
          <a:prstGeom prst="roundRect">
            <a:avLst/>
          </a:prstGeom>
          <a:solidFill>
            <a:srgbClr val="EFFCFB"/>
          </a:solidFill>
          <a:ln w="10160">
            <a:solidFill>
              <a:srgbClr val="6685A3">
                <a:alpha val="1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5645" y="1867205"/>
            <a:ext cx="1858061" cy="561442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6685A3">
                <a:alpha val="1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645" y="1867205"/>
            <a:ext cx="1858061" cy="152705"/>
          </a:xfrm>
          <a:prstGeom prst="roundRect">
            <a:avLst/>
          </a:prstGeom>
          <a:solidFill>
            <a:srgbClr val="0F2135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5" y="2095805"/>
            <a:ext cx="1858061" cy="332842"/>
          </a:xfrm>
          <a:prstGeom prst="roundRect">
            <a:avLst/>
          </a:prstGeom>
          <a:solidFill>
            <a:srgbClr val="FFFFFF">
              <a:alpha val="82000"/>
            </a:srgbClr>
          </a:solidFill>
          <a:ln w="10160">
            <a:solidFill>
              <a:srgbClr val="829CB8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71362" y="1867205"/>
            <a:ext cx="1067105" cy="28986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097AE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5" y="2611526"/>
            <a:ext cx="6122822" cy="1364285"/>
          </a:xfrm>
          <a:prstGeom prst="roundRect">
            <a:avLst/>
          </a:prstGeom>
          <a:solidFill>
            <a:srgbClr val="FFFFFF">
              <a:alpha val="84000"/>
            </a:srgbClr>
          </a:solidFill>
          <a:ln w="10160">
            <a:solidFill>
              <a:srgbClr val="829CB8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5" y="2611526"/>
            <a:ext cx="2977286" cy="1364285"/>
          </a:xfrm>
          <a:prstGeom prst="roundRect">
            <a:avLst/>
          </a:prstGeom>
          <a:solidFill>
            <a:srgbClr val="EDF8FF">
              <a:alpha val="95000"/>
            </a:srgbClr>
          </a:solidFill>
          <a:ln w="10160">
            <a:solidFill>
              <a:srgbClr val="7698B8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1655"/>
            <a:ext cx="6858000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81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CLAW DESIGN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78485"/>
            <a:ext cx="6858000" cy="48737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0D1B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一套工作台，覆盖四类高频演示场景</a:t>
            </a:r>
            <a:endParaRPr lang="en-US" sz="3500" dirty="0"/>
          </a:p>
        </p:txBody>
      </p:sp>
      <p:sp>
        <p:nvSpPr>
          <p:cNvPr id="19" name="Text 17"/>
          <p:cNvSpPr/>
          <p:nvPr/>
        </p:nvSpPr>
        <p:spPr>
          <a:xfrm>
            <a:off x="548640" y="1227125"/>
            <a:ext cx="6858000" cy="5641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dirty="0">
                <a:solidFill>
                  <a:srgbClr val="42566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从产品介绍到研究读出，重点不是“做一份漂亮 PPT”，而是把粗糙想法快速整理成可审阅、可编辑、可导出的正式表达。</a:t>
            </a:r>
            <a:endParaRPr lang="en-US" sz="1540" dirty="0"/>
          </a:p>
        </p:txBody>
      </p:sp>
      <p:sp>
        <p:nvSpPr>
          <p:cNvPr id="20" name="Text 18"/>
          <p:cNvSpPr/>
          <p:nvPr/>
        </p:nvSpPr>
        <p:spPr>
          <a:xfrm>
            <a:off x="10812780" y="518465"/>
            <a:ext cx="830275" cy="38862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D82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代表性用例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5645" y="1867205"/>
            <a:ext cx="1858061" cy="2130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6F83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主场景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15645" y="2095805"/>
            <a:ext cx="1858061" cy="3959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60" b="1" dirty="0">
                <a:solidFill>
                  <a:srgbClr val="0F223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产品介绍 Deck</a:t>
            </a:r>
            <a:endParaRPr lang="en-US" sz="2660" dirty="0"/>
          </a:p>
        </p:txBody>
      </p:sp>
      <p:sp>
        <p:nvSpPr>
          <p:cNvPr id="23" name="Text 21"/>
          <p:cNvSpPr/>
          <p:nvPr/>
        </p:nvSpPr>
        <p:spPr>
          <a:xfrm>
            <a:off x="5871362" y="1867205"/>
            <a:ext cx="1067105" cy="350215"/>
          </a:xfrm>
          <a:prstGeom prst="rect">
            <a:avLst/>
          </a:prstGeom>
          <a:solidFill>
            <a:srgbClr val="EAF3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F6EDC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最直观的演示入口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90295" y="2786177"/>
            <a:ext cx="2627071" cy="25146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0E203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适合表达什么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990295" y="3068726"/>
            <a:ext cx="2627071" cy="7927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8506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把产品定位、问题定义、核心流程、能力结构和下一步讲清楚，适合 Demo、内部同步、对外介绍。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35831" y="2786177"/>
            <a:ext cx="2627071" cy="25146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0E203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为什么适合 Claw Design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135831" y="3068726"/>
            <a:ext cx="2627071" cy="7927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85066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从粗 brief 直接起稿，再进入审阅与修订，不必先手工搭一版，再重排一版，再导出一版。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303166"/>
            <a:ext cx="1669694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7090B3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输入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960120" y="4516222"/>
            <a:ext cx="1669694" cy="7397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2283D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一句定位 一段目标用户描述 几条核心卖点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3041294" y="4303166"/>
            <a:ext cx="1669694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5B9A98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过程</a:t>
            </a:r>
            <a:endParaRPr lang="en-US" sz="910" dirty="0"/>
          </a:p>
        </p:txBody>
      </p:sp>
      <p:sp>
        <p:nvSpPr>
          <p:cNvPr id="31" name="Text 29"/>
          <p:cNvSpPr/>
          <p:nvPr/>
        </p:nvSpPr>
        <p:spPr>
          <a:xfrm>
            <a:off x="3041294" y="4516222"/>
            <a:ext cx="1669694" cy="73975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2283D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生成页面结构 检查内容密度 补齐逻辑与版式</a:t>
            </a:r>
            <a:endParaRPr lang="en-US" sz="1540" dirty="0"/>
          </a:p>
        </p:txBody>
      </p:sp>
      <p:sp>
        <p:nvSpPr>
          <p:cNvPr id="32" name="Text 30"/>
          <p:cNvSpPr/>
          <p:nvPr/>
        </p:nvSpPr>
        <p:spPr>
          <a:xfrm>
            <a:off x="5123383" y="4303166"/>
            <a:ext cx="1669694" cy="1984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7F77B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输出</a:t>
            </a:r>
            <a:endParaRPr lang="en-US" sz="910" dirty="0"/>
          </a:p>
        </p:txBody>
      </p:sp>
      <p:sp>
        <p:nvSpPr>
          <p:cNvPr id="33" name="Text 31"/>
          <p:cNvSpPr/>
          <p:nvPr/>
        </p:nvSpPr>
        <p:spPr>
          <a:xfrm>
            <a:off x="5123383" y="4516222"/>
            <a:ext cx="1669694" cy="51389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12283D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可演示的 HTML 页面 可继续编辑的导出稿</a:t>
            </a:r>
            <a:endParaRPr lang="en-US" sz="1540" dirty="0"/>
          </a:p>
        </p:txBody>
      </p:sp>
      <p:sp>
        <p:nvSpPr>
          <p:cNvPr id="34" name="Text 32"/>
          <p:cNvSpPr/>
          <p:nvPr/>
        </p:nvSpPr>
        <p:spPr>
          <a:xfrm>
            <a:off x="967435" y="5585155"/>
            <a:ext cx="4936846" cy="4727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EAF3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如果你要在短时间内把一个新产品讲清楚，这通常是最能体现 Claw Design 价值的第一类场景。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5904281" y="5661965"/>
            <a:ext cx="881482" cy="32004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92B8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PRODUCT INTRO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7608722" y="1821485"/>
            <a:ext cx="1009498" cy="3355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10" b="1" dirty="0">
                <a:solidFill>
                  <a:srgbClr val="1327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策略 Deck</a:t>
            </a:r>
            <a:endParaRPr lang="en-US" sz="1510" dirty="0"/>
          </a:p>
        </p:txBody>
      </p:sp>
      <p:sp>
        <p:nvSpPr>
          <p:cNvPr id="37" name="Text 35"/>
          <p:cNvSpPr/>
          <p:nvPr/>
        </p:nvSpPr>
        <p:spPr>
          <a:xfrm>
            <a:off x="10884103" y="1821485"/>
            <a:ext cx="537667" cy="180137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6E819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STRATEGY</a:t>
            </a:r>
            <a:endParaRPr lang="en-US" sz="910" dirty="0"/>
          </a:p>
        </p:txBody>
      </p:sp>
      <p:sp>
        <p:nvSpPr>
          <p:cNvPr id="38" name="Text 36"/>
          <p:cNvSpPr/>
          <p:nvPr/>
        </p:nvSpPr>
        <p:spPr>
          <a:xfrm>
            <a:off x="7608722" y="2217420"/>
            <a:ext cx="3813962" cy="5413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30" dirty="0">
                <a:solidFill>
                  <a:srgbClr val="42596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当需求是“把方向讲明白”而不是“把界面做漂亮”，可以用来组织目标、路径、取舍与阶段安排。</a:t>
            </a:r>
            <a:endParaRPr lang="en-US" sz="1330" dirty="0"/>
          </a:p>
        </p:txBody>
      </p:sp>
      <p:sp>
        <p:nvSpPr>
          <p:cNvPr id="39" name="Text 37"/>
          <p:cNvSpPr/>
          <p:nvPr/>
        </p:nvSpPr>
        <p:spPr>
          <a:xfrm>
            <a:off x="7608722" y="3081528"/>
            <a:ext cx="3813962" cy="6473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21384D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适合创始人、产品经理、独立建设者在内部沟通、方案比对、阶段复盘时快速成稿。</a:t>
            </a:r>
            <a:endParaRPr lang="en-US" sz="1260" dirty="0"/>
          </a:p>
        </p:txBody>
      </p:sp>
      <p:sp>
        <p:nvSpPr>
          <p:cNvPr id="40" name="Text 38"/>
          <p:cNvSpPr/>
          <p:nvPr/>
        </p:nvSpPr>
        <p:spPr>
          <a:xfrm>
            <a:off x="7577633" y="4259275"/>
            <a:ext cx="1677924" cy="29900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327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研究读出</a:t>
            </a:r>
            <a:endParaRPr lang="en-US" sz="1820" dirty="0"/>
          </a:p>
        </p:txBody>
      </p:sp>
      <p:sp>
        <p:nvSpPr>
          <p:cNvPr id="41" name="Text 39"/>
          <p:cNvSpPr/>
          <p:nvPr/>
        </p:nvSpPr>
        <p:spPr>
          <a:xfrm>
            <a:off x="7577633" y="4604004"/>
            <a:ext cx="1677924" cy="91622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47607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把研究结论整理成适合汇报的页面，而不是停留在零散笔记、文档片段和截图集合。</a:t>
            </a:r>
            <a:endParaRPr lang="en-US" sz="1190" dirty="0"/>
          </a:p>
        </p:txBody>
      </p:sp>
      <p:sp>
        <p:nvSpPr>
          <p:cNvPr id="42" name="Text 40"/>
          <p:cNvSpPr/>
          <p:nvPr/>
        </p:nvSpPr>
        <p:spPr>
          <a:xfrm>
            <a:off x="7577633" y="6050585"/>
            <a:ext cx="1677924" cy="180137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6F8397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RESEARCH READOUT</a:t>
            </a:r>
            <a:endParaRPr lang="en-US" sz="910" dirty="0"/>
          </a:p>
        </p:txBody>
      </p:sp>
      <p:sp>
        <p:nvSpPr>
          <p:cNvPr id="43" name="Text 41"/>
          <p:cNvSpPr/>
          <p:nvPr/>
        </p:nvSpPr>
        <p:spPr>
          <a:xfrm>
            <a:off x="9774022" y="4259275"/>
            <a:ext cx="1677924" cy="536753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20" b="1" dirty="0">
                <a:solidFill>
                  <a:srgbClr val="1327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有来源支撑的演示稿</a:t>
            </a:r>
            <a:endParaRPr lang="en-US" sz="1820" dirty="0"/>
          </a:p>
        </p:txBody>
      </p:sp>
      <p:sp>
        <p:nvSpPr>
          <p:cNvPr id="44" name="Text 42"/>
          <p:cNvSpPr/>
          <p:nvPr/>
        </p:nvSpPr>
        <p:spPr>
          <a:xfrm>
            <a:off x="9774022" y="4841748"/>
            <a:ext cx="1677924" cy="916229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0" dirty="0">
                <a:solidFill>
                  <a:srgbClr val="47607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需要先 ingest 材料、再组织为正式表达时，这类页面最能体现“资料进入工作流”的价值。</a:t>
            </a:r>
            <a:endParaRPr lang="en-US" sz="1190" dirty="0"/>
          </a:p>
        </p:txBody>
      </p:sp>
      <p:sp>
        <p:nvSpPr>
          <p:cNvPr id="45" name="Text 43"/>
          <p:cNvSpPr/>
          <p:nvPr/>
        </p:nvSpPr>
        <p:spPr>
          <a:xfrm>
            <a:off x="9774022" y="6050585"/>
            <a:ext cx="1677924" cy="180137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4F7EAE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SOURCE-GROUNDED</a:t>
            </a:r>
            <a:endParaRPr lang="en-US" sz="910" dirty="0"/>
          </a:p>
        </p:txBody>
      </p:sp>
      <p:sp>
        <p:nvSpPr>
          <p:cNvPr id="46" name="Text 44"/>
          <p:cNvSpPr/>
          <p:nvPr/>
        </p:nvSpPr>
        <p:spPr>
          <a:xfrm>
            <a:off x="548640" y="6515100"/>
            <a:ext cx="318211" cy="1901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7A8DA2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05 / 06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5" y="320040"/>
            <a:ext cx="11353190" cy="6232550"/>
          </a:xfrm>
          <a:prstGeom prst="roundRect">
            <a:avLst/>
          </a:prstGeom>
          <a:solidFill>
            <a:srgbClr val="FFFFFF">
              <a:alpha val="72000"/>
            </a:srgbClr>
          </a:solidFill>
          <a:ln w="10160">
            <a:solidFill>
              <a:srgbClr val="94A3B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1490" y="0"/>
            <a:ext cx="3200400" cy="3200400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02075"/>
            <a:ext cx="3810305" cy="3810305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1715" y="754380"/>
            <a:ext cx="10362895" cy="2184502"/>
          </a:xfrm>
          <a:prstGeom prst="roundRect">
            <a:avLst/>
          </a:prstGeom>
          <a:solidFill>
            <a:srgbClr val="E8F1FB"/>
          </a:solidFill>
          <a:ln w="10160">
            <a:solidFill>
              <a:srgbClr val="D8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715" y="754380"/>
            <a:ext cx="5721401" cy="218450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1715" y="754380"/>
            <a:ext cx="714146" cy="292608"/>
          </a:xfrm>
          <a:prstGeom prst="roundRect">
            <a:avLst/>
          </a:prstGeom>
          <a:solidFill>
            <a:srgbClr val="FBFDFF"/>
          </a:solidFill>
          <a:ln w="1016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32950" y="754380"/>
            <a:ext cx="1852574" cy="135422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91142" y="912571"/>
            <a:ext cx="1535278" cy="1600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91142" y="1168603"/>
            <a:ext cx="1535278" cy="342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91142" y="1593799"/>
            <a:ext cx="153527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1715" y="2507285"/>
            <a:ext cx="10362895" cy="3550615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2563EB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1715" y="2507285"/>
            <a:ext cx="4219042" cy="421355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63117" y="2747772"/>
            <a:ext cx="3738067" cy="182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3117" y="3054096"/>
            <a:ext cx="3628339" cy="980237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3117" y="4226357"/>
            <a:ext cx="3738067" cy="268010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63117" y="4226357"/>
            <a:ext cx="1814170" cy="128564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3876" y="4357116"/>
            <a:ext cx="1551737" cy="12984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3876" y="4541825"/>
            <a:ext cx="1551737" cy="221285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3876" y="4817059"/>
            <a:ext cx="1551737" cy="56327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" y="754380"/>
            <a:ext cx="714146" cy="352958"/>
          </a:xfrm>
          <a:prstGeom prst="rect">
            <a:avLst/>
          </a:prstGeom>
          <a:solidFill>
            <a:srgbClr val="E8F1F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当前状态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921715" y="1184148"/>
            <a:ext cx="5721401" cy="94457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9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Claw Design 处于 Alpha 阶段， 但核心演示链路已经清晰可用</a:t>
            </a:r>
            <a:endParaRPr lang="en-US" sz="3790" dirty="0"/>
          </a:p>
        </p:txBody>
      </p:sp>
      <p:sp>
        <p:nvSpPr>
          <p:cNvPr id="23" name="Text 21"/>
          <p:cNvSpPr/>
          <p:nvPr/>
        </p:nvSpPr>
        <p:spPr>
          <a:xfrm>
            <a:off x="921715" y="2145182"/>
            <a:ext cx="5721401" cy="854964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dirty="0">
                <a:solidFill>
                  <a:srgbClr val="33415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现在它最强的地方，不是“功能堆满”，而是把从想法到可展示 Deck 的关键路径压短： 本地优先生成、固定 16:9 画布、可 review / repair、可继续编辑、可导出。</a:t>
            </a:r>
            <a:endParaRPr lang="en-US" sz="1570" dirty="0"/>
          </a:p>
        </p:txBody>
      </p:sp>
      <p:sp>
        <p:nvSpPr>
          <p:cNvPr id="24" name="Text 22"/>
          <p:cNvSpPr/>
          <p:nvPr/>
        </p:nvSpPr>
        <p:spPr>
          <a:xfrm>
            <a:off x="9591142" y="912571"/>
            <a:ext cx="1535278" cy="2212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阶段判断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9591142" y="1168603"/>
            <a:ext cx="1535278" cy="419710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4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Alpha</a:t>
            </a:r>
            <a:endParaRPr lang="en-US" sz="2740" dirty="0"/>
          </a:p>
        </p:txBody>
      </p:sp>
      <p:sp>
        <p:nvSpPr>
          <p:cNvPr id="26" name="Text 24"/>
          <p:cNvSpPr/>
          <p:nvPr/>
        </p:nvSpPr>
        <p:spPr>
          <a:xfrm>
            <a:off x="9591142" y="1593799"/>
            <a:ext cx="1535278" cy="444398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适合产品演示、内部试用、工作流验证与快速迭代。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63117" y="2747772"/>
            <a:ext cx="3738067" cy="2441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2563E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已经很强的部分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1163117" y="3054096"/>
            <a:ext cx="3628339" cy="10442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1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核心价值不是“做 PPT”，而是把粗糙输入稳定推进到可交付输出</a:t>
            </a:r>
            <a:endParaRPr lang="en-US" sz="2610" dirty="0"/>
          </a:p>
        </p:txBody>
      </p:sp>
      <p:sp>
        <p:nvSpPr>
          <p:cNvPr id="29" name="Text 27"/>
          <p:cNvSpPr/>
          <p:nvPr/>
        </p:nvSpPr>
        <p:spPr>
          <a:xfrm>
            <a:off x="1293876" y="4357116"/>
            <a:ext cx="1551737" cy="1901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01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1293876" y="4541825"/>
            <a:ext cx="1551737" cy="2816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本地优先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1293876" y="4817059"/>
            <a:ext cx="1551737" cy="6245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47556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更适合需要掌控资料、反复试产与快速试错的真实工作环境。</a:t>
            </a:r>
            <a:endParaRPr lang="en-US" sz="1110" dirty="0"/>
          </a:p>
        </p:txBody>
      </p:sp>
      <p:sp>
        <p:nvSpPr>
          <p:cNvPr id="32" name="Text 30"/>
          <p:cNvSpPr/>
          <p:nvPr/>
        </p:nvSpPr>
        <p:spPr>
          <a:xfrm>
            <a:off x="3217774" y="4357116"/>
            <a:ext cx="1551737" cy="1901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02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217774" y="4541825"/>
            <a:ext cx="1551737" cy="2816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固定 16:9 HTML 画布</a:t>
            </a:r>
            <a:endParaRPr lang="en-US" sz="1430" dirty="0"/>
          </a:p>
        </p:txBody>
      </p:sp>
      <p:sp>
        <p:nvSpPr>
          <p:cNvPr id="34" name="Text 32"/>
          <p:cNvSpPr/>
          <p:nvPr/>
        </p:nvSpPr>
        <p:spPr>
          <a:xfrm>
            <a:off x="3217774" y="4817059"/>
            <a:ext cx="1551737" cy="6245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47556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从一开始就面向演示尺寸，减少生成后大幅返工的概率。</a:t>
            </a:r>
            <a:endParaRPr lang="en-US" sz="1110" dirty="0"/>
          </a:p>
        </p:txBody>
      </p:sp>
      <p:sp>
        <p:nvSpPr>
          <p:cNvPr id="35" name="Text 33"/>
          <p:cNvSpPr/>
          <p:nvPr/>
        </p:nvSpPr>
        <p:spPr>
          <a:xfrm>
            <a:off x="1293876" y="5752490"/>
            <a:ext cx="1551737" cy="1901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03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1293876" y="5936285"/>
            <a:ext cx="1551737" cy="2816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Review / Repair 闭环</a:t>
            </a:r>
            <a:endParaRPr lang="en-US" sz="1430" dirty="0"/>
          </a:p>
        </p:txBody>
      </p:sp>
      <p:sp>
        <p:nvSpPr>
          <p:cNvPr id="37" name="Text 35"/>
          <p:cNvSpPr/>
          <p:nvPr/>
        </p:nvSpPr>
        <p:spPr>
          <a:xfrm>
            <a:off x="1293876" y="6212434"/>
            <a:ext cx="1551737" cy="6245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47556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不是一次性生成结束，而是支持检查、修补、继续逼近可用成品。</a:t>
            </a:r>
            <a:endParaRPr lang="en-US" sz="1110" dirty="0"/>
          </a:p>
        </p:txBody>
      </p:sp>
      <p:sp>
        <p:nvSpPr>
          <p:cNvPr id="38" name="Text 36"/>
          <p:cNvSpPr/>
          <p:nvPr/>
        </p:nvSpPr>
        <p:spPr>
          <a:xfrm>
            <a:off x="3217774" y="5752490"/>
            <a:ext cx="1551737" cy="19019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04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3217774" y="5936285"/>
            <a:ext cx="1551737" cy="2816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可编辑导出</a:t>
            </a:r>
            <a:endParaRPr lang="en-US" sz="1430" dirty="0"/>
          </a:p>
        </p:txBody>
      </p:sp>
      <p:sp>
        <p:nvSpPr>
          <p:cNvPr id="40" name="Text 38"/>
          <p:cNvSpPr/>
          <p:nvPr/>
        </p:nvSpPr>
        <p:spPr>
          <a:xfrm>
            <a:off x="3217774" y="6212434"/>
            <a:ext cx="1551737" cy="62453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47556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最终结果不是封死的截图，而是能继续进入正式制作流程的资产。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1333195" y="6005779"/>
            <a:ext cx="3396082" cy="42702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1E3A8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对演示友好的关键点已经具备：从 brief、生成、检查、修复到导出，路径完整，适合拿来做现场 demo。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5491886" y="2706624"/>
            <a:ext cx="2521915" cy="2441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为什么还是 Alpha</a:t>
            </a:r>
            <a:endParaRPr lang="en-US" sz="1180" dirty="0"/>
          </a:p>
        </p:txBody>
      </p:sp>
      <p:sp>
        <p:nvSpPr>
          <p:cNvPr id="43" name="Text 41"/>
          <p:cNvSpPr/>
          <p:nvPr/>
        </p:nvSpPr>
        <p:spPr>
          <a:xfrm>
            <a:off x="5491886" y="2999232"/>
            <a:ext cx="2521915" cy="67848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475569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当前更适合聚焦在“把关键链路跑顺”，而不是追求全面覆盖所有版式、所有内容场景、所有团队协作需求。</a:t>
            </a:r>
            <a:endParaRPr lang="en-US" sz="1110" dirty="0"/>
          </a:p>
        </p:txBody>
      </p:sp>
      <p:sp>
        <p:nvSpPr>
          <p:cNvPr id="44" name="Text 42"/>
          <p:cNvSpPr/>
          <p:nvPr/>
        </p:nvSpPr>
        <p:spPr>
          <a:xfrm>
            <a:off x="5491886" y="3739896"/>
            <a:ext cx="2521915" cy="55595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64748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这意味着产品判断是明确的：先把可展示、可修、可导出的主路径做扎实。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8563356" y="2706624"/>
            <a:ext cx="2521915" cy="2441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适合现在怎么用</a:t>
            </a:r>
            <a:endParaRPr lang="en-US" sz="1180" dirty="0"/>
          </a:p>
        </p:txBody>
      </p:sp>
      <p:sp>
        <p:nvSpPr>
          <p:cNvPr id="46" name="Text 44"/>
          <p:cNvSpPr/>
          <p:nvPr/>
        </p:nvSpPr>
        <p:spPr>
          <a:xfrm>
            <a:off x="8563356" y="3012948"/>
            <a:ext cx="2521915" cy="40416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产品介绍页快速成稿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8563356" y="3434486"/>
            <a:ext cx="2521915" cy="40416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策略或研究内容整理成 deck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8563356" y="3856939"/>
            <a:ext cx="2521915" cy="404165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334155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内部讨论前先做可展示版本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5491886" y="4754880"/>
            <a:ext cx="2521915" cy="2441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93C5FD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下一步</a:t>
            </a:r>
            <a:endParaRPr lang="en-US" sz="1180" dirty="0"/>
          </a:p>
        </p:txBody>
      </p:sp>
      <p:sp>
        <p:nvSpPr>
          <p:cNvPr id="50" name="Text 48"/>
          <p:cNvSpPr/>
          <p:nvPr/>
        </p:nvSpPr>
        <p:spPr>
          <a:xfrm>
            <a:off x="5491886" y="5033772"/>
            <a:ext cx="2521915" cy="842162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60" b="1" dirty="0">
                <a:solidFill>
                  <a:srgbClr val="EFF6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继续把“生成结果更稳、审阅修复更顺、导出衔接更好”做成默认体验</a:t>
            </a:r>
            <a:endParaRPr lang="en-US" sz="1960" dirty="0"/>
          </a:p>
        </p:txBody>
      </p:sp>
      <p:sp>
        <p:nvSpPr>
          <p:cNvPr id="51" name="Text 49"/>
          <p:cNvSpPr/>
          <p:nvPr/>
        </p:nvSpPr>
        <p:spPr>
          <a:xfrm>
            <a:off x="5491886" y="5938114"/>
            <a:ext cx="2521915" cy="672084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EFF6FF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对外表达上，Claw Design 的下一阶段不是讲故事，而是持续提高从粗稿到可交付 deck 的可靠性，让更多真实内容场景可以直接进工作流。</a:t>
            </a:r>
            <a:endParaRPr lang="en-US" sz="1110" dirty="0"/>
          </a:p>
        </p:txBody>
      </p:sp>
      <p:sp>
        <p:nvSpPr>
          <p:cNvPr id="52" name="Text 50"/>
          <p:cNvSpPr/>
          <p:nvPr/>
        </p:nvSpPr>
        <p:spPr>
          <a:xfrm>
            <a:off x="8563356" y="4754880"/>
            <a:ext cx="2521915" cy="244145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一句话判断</a:t>
            </a:r>
            <a:endParaRPr lang="en-US" sz="1180" dirty="0"/>
          </a:p>
        </p:txBody>
      </p:sp>
      <p:sp>
        <p:nvSpPr>
          <p:cNvPr id="53" name="Text 51"/>
          <p:cNvSpPr/>
          <p:nvPr/>
        </p:nvSpPr>
        <p:spPr>
          <a:xfrm>
            <a:off x="8563356" y="5047488"/>
            <a:ext cx="2521915" cy="803758"/>
          </a:xfrm>
          <a:prstGeom prst="rect">
            <a:avLst/>
          </a:prstGeom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0" b="1" dirty="0">
                <a:solidFill>
                  <a:srgbClr val="1E293B"/>
                </a:solidFill>
                <a:latin typeface="Times" pitchFamily="34" charset="0"/>
                <a:ea typeface="Times" pitchFamily="34" charset="-122"/>
                <a:cs typeface="Times" pitchFamily="34" charset="-120"/>
              </a:rPr>
              <a:t>这已经不是概念验证，而是一个能清楚展示产品方向、并可继续打磨成正式工具的 Alpha。</a:t>
            </a:r>
            <a:endParaRPr lang="en-US" sz="15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ow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Audience: designers, product managers, founders, researchers,</dc:title>
  <dc:subject>Exported from http://127.0.0.1:5174/projects/project-od2jtnkr/published</dc:subject>
  <dc:creator>PPT Studio</dc:creator>
  <cp:lastModifiedBy>PPT Studio</cp:lastModifiedBy>
  <cp:revision>1</cp:revision>
  <dcterms:created xsi:type="dcterms:W3CDTF">2026-04-22T16:33:02Z</dcterms:created>
  <dcterms:modified xsi:type="dcterms:W3CDTF">2026-04-22T16:33:02Z</dcterms:modified>
</cp:coreProperties>
</file>